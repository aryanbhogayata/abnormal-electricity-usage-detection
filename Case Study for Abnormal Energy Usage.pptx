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6"/>
  </p:notesMasterIdLst>
  <p:sldIdLst>
    <p:sldId id="1303" r:id="rId5"/>
    <p:sldId id="1310" r:id="rId6"/>
    <p:sldId id="1301" r:id="rId7"/>
    <p:sldId id="1302" r:id="rId8"/>
    <p:sldId id="1306" r:id="rId9"/>
    <p:sldId id="1311" r:id="rId10"/>
    <p:sldId id="1307" r:id="rId11"/>
    <p:sldId id="1308" r:id="rId12"/>
    <p:sldId id="1295" r:id="rId13"/>
    <p:sldId id="1296" r:id="rId14"/>
    <p:sldId id="1250"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FF"/>
    <a:srgbClr val="F9FFEB"/>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82" autoAdjust="0"/>
  </p:normalViewPr>
  <p:slideViewPr>
    <p:cSldViewPr snapToGrid="0">
      <p:cViewPr varScale="1">
        <p:scale>
          <a:sx n="71" d="100"/>
          <a:sy n="71" d="100"/>
        </p:scale>
        <p:origin x="1109" y="48"/>
      </p:cViewPr>
      <p:guideLst>
        <p:guide orient="horz" pos="792"/>
        <p:guide pos="192"/>
        <p:guide orient="horz" pos="10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notesMaster" Target="notesMasters/notesMaster1.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1934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290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906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905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hyperlink" Target="https://github.com/aryanbhogayata/Abnormal-Electricity-Usage-Detection"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code/sonalshinde123/abnormal-electricity-usage-detection/inpu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github.com/aryanbhogayata/Abnormal-Electricity-Usage-Detection"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0" y="9331"/>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CA298952-1BDB-C0AE-516A-649A0AADEA76}"/>
              </a:ext>
            </a:extLst>
          </p:cNvPr>
          <p:cNvSpPr txBox="1"/>
          <p:nvPr/>
        </p:nvSpPr>
        <p:spPr>
          <a:xfrm>
            <a:off x="4962182" y="1812558"/>
            <a:ext cx="6731380" cy="954107"/>
          </a:xfrm>
          <a:prstGeom prst="rect">
            <a:avLst/>
          </a:prstGeom>
          <a:noFill/>
        </p:spPr>
        <p:txBody>
          <a:bodyPr wrap="square" rtlCol="0">
            <a:spAutoFit/>
          </a:bodyPr>
          <a:lstStyle/>
          <a:p>
            <a:r>
              <a:rPr lang="en-US" sz="2800" b="1" dirty="0">
                <a:solidFill>
                  <a:schemeClr val="bg1"/>
                </a:solidFill>
                <a:latin typeface="Arial" panose="020B0604020202020204" pitchFamily="34" charset="0"/>
                <a:cs typeface="Arial" panose="020B0604020202020204" pitchFamily="34" charset="0"/>
              </a:rPr>
              <a:t>Intelligent Abnormal Electricity Usage Detection</a:t>
            </a:r>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F6F19223-1516-B9D6-0D92-8A75320E6DC6}"/>
              </a:ext>
            </a:extLst>
          </p:cNvPr>
          <p:cNvSpPr txBox="1"/>
          <p:nvPr/>
        </p:nvSpPr>
        <p:spPr>
          <a:xfrm>
            <a:off x="4962182" y="2766665"/>
            <a:ext cx="5910648" cy="3108543"/>
          </a:xfrm>
          <a:prstGeom prst="rect">
            <a:avLst/>
          </a:prstGeom>
          <a:noFill/>
        </p:spPr>
        <p:txBody>
          <a:bodyPr wrap="square" rtlCol="0">
            <a:spAutoFit/>
          </a:bodyPr>
          <a:lstStyle/>
          <a:p>
            <a:r>
              <a:rPr lang="en-US" sz="1400" dirty="0">
                <a:solidFill>
                  <a:schemeClr val="bg1"/>
                </a:solidFill>
              </a:rPr>
              <a:t>University: Dr. Subhash University (</a:t>
            </a:r>
            <a:r>
              <a:rPr lang="en-US" sz="1400" dirty="0" err="1">
                <a:solidFill>
                  <a:schemeClr val="bg1"/>
                </a:solidFill>
              </a:rPr>
              <a:t>DSU</a:t>
            </a:r>
            <a:r>
              <a:rPr lang="en-US" sz="1400" dirty="0">
                <a:solidFill>
                  <a:schemeClr val="bg1"/>
                </a:solidFill>
              </a:rPr>
              <a:t>)</a:t>
            </a:r>
          </a:p>
          <a:p>
            <a:endParaRPr lang="en-US" sz="1400" dirty="0">
              <a:solidFill>
                <a:schemeClr val="bg1"/>
              </a:solidFill>
            </a:endParaRPr>
          </a:p>
          <a:p>
            <a:r>
              <a:rPr lang="en-US" sz="1400" dirty="0">
                <a:solidFill>
                  <a:schemeClr val="bg1"/>
                </a:solidFill>
              </a:rPr>
              <a:t>Team Members: </a:t>
            </a:r>
          </a:p>
          <a:p>
            <a:r>
              <a:rPr lang="en-US" sz="1400" dirty="0">
                <a:solidFill>
                  <a:schemeClr val="bg1"/>
                </a:solidFill>
              </a:rPr>
              <a:t>Aryan Bhogayata (Team Leader)</a:t>
            </a:r>
          </a:p>
          <a:p>
            <a:r>
              <a:rPr lang="en-US" sz="1400" dirty="0">
                <a:solidFill>
                  <a:schemeClr val="bg1"/>
                </a:solidFill>
              </a:rPr>
              <a:t>Ananya Goswami</a:t>
            </a:r>
          </a:p>
          <a:p>
            <a:r>
              <a:rPr lang="en-US" sz="1400" dirty="0">
                <a:solidFill>
                  <a:schemeClr val="bg1"/>
                </a:solidFill>
              </a:rPr>
              <a:t>Ankit </a:t>
            </a:r>
            <a:r>
              <a:rPr lang="en-US" sz="1400" dirty="0" err="1">
                <a:solidFill>
                  <a:schemeClr val="bg1"/>
                </a:solidFill>
              </a:rPr>
              <a:t>Dervaniya</a:t>
            </a:r>
            <a:endParaRPr lang="en-US" sz="1400" dirty="0">
              <a:solidFill>
                <a:schemeClr val="bg1"/>
              </a:solidFill>
            </a:endParaRPr>
          </a:p>
          <a:p>
            <a:r>
              <a:rPr lang="en-US" sz="1400" dirty="0">
                <a:solidFill>
                  <a:schemeClr val="bg1"/>
                </a:solidFill>
              </a:rPr>
              <a:t>Sakshi </a:t>
            </a:r>
            <a:r>
              <a:rPr lang="en-US" sz="1400" dirty="0" err="1">
                <a:solidFill>
                  <a:schemeClr val="bg1"/>
                </a:solidFill>
              </a:rPr>
              <a:t>Fadadu</a:t>
            </a:r>
            <a:endParaRPr lang="en-US" sz="1400" dirty="0">
              <a:solidFill>
                <a:schemeClr val="bg1"/>
              </a:solidFill>
            </a:endParaRPr>
          </a:p>
          <a:p>
            <a:r>
              <a:rPr lang="en-US" sz="1400" dirty="0" err="1">
                <a:solidFill>
                  <a:schemeClr val="bg1"/>
                </a:solidFill>
              </a:rPr>
              <a:t>Kumbhani</a:t>
            </a:r>
            <a:r>
              <a:rPr lang="en-US" sz="1400" dirty="0">
                <a:solidFill>
                  <a:schemeClr val="bg1"/>
                </a:solidFill>
              </a:rPr>
              <a:t> Vishva</a:t>
            </a:r>
          </a:p>
          <a:p>
            <a:endParaRPr lang="en-US" sz="1400" dirty="0">
              <a:solidFill>
                <a:schemeClr val="bg1"/>
              </a:solidFill>
            </a:endParaRPr>
          </a:p>
          <a:p>
            <a:r>
              <a:rPr lang="en-US" sz="1400" dirty="0">
                <a:solidFill>
                  <a:schemeClr val="bg1"/>
                </a:solidFill>
              </a:rPr>
              <a:t>Trainer Name: Rohit </a:t>
            </a:r>
            <a:r>
              <a:rPr lang="en-US" sz="1400" dirty="0" err="1">
                <a:solidFill>
                  <a:schemeClr val="bg1"/>
                </a:solidFill>
              </a:rPr>
              <a:t>Bhadauriya</a:t>
            </a:r>
            <a:endParaRPr lang="en-US" sz="1400" dirty="0">
              <a:solidFill>
                <a:schemeClr val="bg1"/>
              </a:solidFill>
            </a:endParaRPr>
          </a:p>
          <a:p>
            <a:r>
              <a:rPr lang="en-US" sz="1400" dirty="0">
                <a:solidFill>
                  <a:schemeClr val="bg1"/>
                </a:solidFill>
              </a:rPr>
              <a:t>Team ID:  </a:t>
            </a:r>
            <a:r>
              <a:rPr lang="en-US" sz="1400" dirty="0" err="1">
                <a:solidFill>
                  <a:schemeClr val="bg1"/>
                </a:solidFill>
              </a:rPr>
              <a:t>S4F_CP_Team_54364</a:t>
            </a:r>
            <a:endParaRPr lang="en-US" sz="1400" dirty="0">
              <a:solidFill>
                <a:schemeClr val="bg1"/>
              </a:solidFill>
            </a:endParaRPr>
          </a:p>
          <a:p>
            <a:r>
              <a:rPr lang="en-US" sz="1400" dirty="0">
                <a:solidFill>
                  <a:schemeClr val="bg1"/>
                </a:solidFill>
              </a:rPr>
              <a:t>Link: </a:t>
            </a:r>
            <a:r>
              <a:rPr lang="en-US" sz="1400" dirty="0">
                <a:hlinkClick r:id="rId6"/>
              </a:rPr>
              <a:t>https://github.com/aryanbhogayata/Abnormal-Electricity-Usage-Detection</a:t>
            </a:r>
            <a:endParaRPr lang="en-US" sz="1400" dirty="0"/>
          </a:p>
          <a:p>
            <a:r>
              <a:rPr lang="en-US" sz="1400" dirty="0">
                <a:solidFill>
                  <a:schemeClr val="bg1"/>
                </a:solidFill>
              </a:rPr>
              <a:t>Date: February 13, 2026</a:t>
            </a:r>
            <a:endParaRPr lang="en-IN" sz="1400" dirty="0">
              <a:solidFill>
                <a:schemeClr val="bg1"/>
              </a:solidFill>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202071" y="1730829"/>
            <a:ext cx="8229600" cy="45259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dirty="0"/>
              <a:t>Dataset Description:</a:t>
            </a:r>
          </a:p>
          <a:p>
            <a:pPr marL="342900" indent="-342900">
              <a:buFont typeface="Arial" panose="020B0604020202020204" pitchFamily="34" charset="0"/>
              <a:buChar char="•"/>
            </a:pPr>
            <a:r>
              <a:rPr lang="en-US" b="1" dirty="0"/>
              <a:t>Source:</a:t>
            </a:r>
            <a:r>
              <a:rPr lang="en-US" dirty="0"/>
              <a:t> Real-world smart meter data from Kerala, India (Kaggle).</a:t>
            </a:r>
          </a:p>
          <a:p>
            <a:pPr marL="342900" indent="-342900">
              <a:buFont typeface="Arial" panose="020B0604020202020204" pitchFamily="34" charset="0"/>
              <a:buChar char="•"/>
            </a:pPr>
            <a:r>
              <a:rPr lang="en-US" b="1" dirty="0"/>
              <a:t>Size:</a:t>
            </a:r>
            <a:r>
              <a:rPr lang="en-US" dirty="0"/>
              <a:t> 10,800 records with 15 features.</a:t>
            </a:r>
          </a:p>
          <a:p>
            <a:pPr marL="342900" indent="-342900">
              <a:buFont typeface="Arial" panose="020B0604020202020204" pitchFamily="34" charset="0"/>
              <a:buChar char="•"/>
            </a:pPr>
            <a:r>
              <a:rPr lang="en-US" b="1" dirty="0"/>
              <a:t>Key Features:</a:t>
            </a:r>
            <a:r>
              <a:rPr lang="en-US" dirty="0"/>
              <a:t> </a:t>
            </a:r>
            <a:r>
              <a:rPr lang="en-US" dirty="0" err="1"/>
              <a:t>Actual_Energy</a:t>
            </a:r>
            <a:r>
              <a:rPr lang="en-US" dirty="0"/>
              <a:t>(kwh), </a:t>
            </a:r>
            <a:r>
              <a:rPr lang="en-US" dirty="0" err="1"/>
              <a:t>House_Area</a:t>
            </a:r>
            <a:r>
              <a:rPr lang="en-US" dirty="0"/>
              <a:t>, </a:t>
            </a:r>
            <a:r>
              <a:rPr lang="en-US" dirty="0" err="1"/>
              <a:t>Num_Occupants</a:t>
            </a:r>
            <a:r>
              <a:rPr lang="en-US" dirty="0"/>
              <a:t>, </a:t>
            </a:r>
            <a:r>
              <a:rPr lang="en-US" dirty="0" err="1"/>
              <a:t>Appliance_Score</a:t>
            </a:r>
            <a:r>
              <a:rPr lang="en-US" dirty="0"/>
              <a:t>, Temperature, Humidity, and </a:t>
            </a:r>
            <a:r>
              <a:rPr lang="en-US" dirty="0" err="1"/>
              <a:t>Abnormal_Usage</a:t>
            </a:r>
            <a:r>
              <a:rPr lang="en-US" dirty="0"/>
              <a:t> (Target)</a:t>
            </a:r>
          </a:p>
          <a:p>
            <a:endParaRPr lang="en-US" dirty="0"/>
          </a:p>
          <a:p>
            <a:r>
              <a:rPr lang="en-US" dirty="0"/>
              <a:t>Data Preprocessing:</a:t>
            </a:r>
          </a:p>
          <a:p>
            <a:pPr marL="342900" indent="-342900">
              <a:buFont typeface="Arial" panose="020B0604020202020204" pitchFamily="34" charset="0"/>
              <a:buChar char="•"/>
            </a:pPr>
            <a:r>
              <a:rPr lang="en-US" b="1" dirty="0"/>
              <a:t>Cleaning:</a:t>
            </a:r>
            <a:r>
              <a:rPr lang="en-US" dirty="0"/>
              <a:t> Removed "kWh" suffixes from energy columns to convert text to numeric values.</a:t>
            </a:r>
          </a:p>
          <a:p>
            <a:pPr marL="342900" indent="-342900">
              <a:buFont typeface="Arial" panose="020B0604020202020204" pitchFamily="34" charset="0"/>
              <a:buChar char="•"/>
            </a:pPr>
            <a:r>
              <a:rPr lang="en-US" b="1" dirty="0"/>
              <a:t>Handling Missing Data:</a:t>
            </a:r>
            <a:r>
              <a:rPr lang="en-US" dirty="0"/>
              <a:t> Dropped rows with missing target values to ensure high-quality training data.</a:t>
            </a:r>
          </a:p>
          <a:p>
            <a:pPr marL="342900" indent="-342900">
              <a:buFont typeface="Arial" panose="020B0604020202020204" pitchFamily="34" charset="0"/>
              <a:buChar char="•"/>
            </a:pPr>
            <a:r>
              <a:rPr lang="en-US" b="1" dirty="0"/>
              <a:t>Feature Engineering:</a:t>
            </a:r>
            <a:r>
              <a:rPr lang="en-US" dirty="0"/>
              <a:t> Extracted Month and </a:t>
            </a:r>
            <a:r>
              <a:rPr lang="en-US" dirty="0" err="1"/>
              <a:t>Day_of_Week</a:t>
            </a:r>
            <a:r>
              <a:rPr lang="en-US" dirty="0"/>
              <a:t> from the date column to capture temporal usage patterns.</a:t>
            </a:r>
          </a:p>
          <a:p>
            <a:pPr marL="342900" indent="-342900">
              <a:buFont typeface="Arial" panose="020B0604020202020204" pitchFamily="34" charset="0"/>
              <a:buChar char="•"/>
            </a:pPr>
            <a:r>
              <a:rPr lang="en-US" b="1" dirty="0"/>
              <a:t>Encoding:</a:t>
            </a:r>
            <a:r>
              <a:rPr lang="en-US" dirty="0"/>
              <a:t> Applied One-Hot Encoding to categorical variables like </a:t>
            </a:r>
            <a:r>
              <a:rPr lang="en-US" dirty="0" err="1"/>
              <a:t>Region_Code</a:t>
            </a:r>
            <a:r>
              <a:rPr lang="en-US" dirty="0"/>
              <a:t> and </a:t>
            </a:r>
            <a:r>
              <a:rPr lang="en-US" dirty="0" err="1"/>
              <a:t>Dwelling_Type</a:t>
            </a:r>
            <a:r>
              <a:rPr lang="en-US" dirty="0"/>
              <a:t>.</a:t>
            </a:r>
            <a:br>
              <a:rPr lang="en-US" dirty="0"/>
            </a:br>
            <a:endParaRPr lang="en-US" dirty="0"/>
          </a:p>
        </p:txBody>
      </p:sp>
    </p:spTree>
    <p:extLst>
      <p:ext uri="{BB962C8B-B14F-4D97-AF65-F5344CB8AC3E}">
        <p14:creationId xmlns:p14="http://schemas.microsoft.com/office/powerpoint/2010/main" val="1479379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202071" y="1638915"/>
            <a:ext cx="7886700"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dirty="0"/>
              <a:t>Brief Overview:</a:t>
            </a:r>
          </a:p>
          <a:p>
            <a:pPr marL="342900" indent="-342900">
              <a:buFont typeface="Arial" panose="020B0604020202020204" pitchFamily="34" charset="0"/>
              <a:buChar char="•"/>
            </a:pPr>
            <a:r>
              <a:rPr lang="en-US" dirty="0"/>
              <a:t>Electricity theft and meter tampering cause significant revenue loss for utility companies. Traditional manual inspection is slow and inefficient. This project aims to automate the detection of these anomalies using machine learning.</a:t>
            </a:r>
          </a:p>
          <a:p>
            <a:endParaRPr lang="en-US" dirty="0"/>
          </a:p>
          <a:p>
            <a:endParaRPr lang="en-US" dirty="0"/>
          </a:p>
          <a:p>
            <a:r>
              <a:rPr lang="en-US" dirty="0"/>
              <a:t>Key Objectives:</a:t>
            </a:r>
          </a:p>
          <a:p>
            <a:pPr marL="457200" indent="-457200">
              <a:buFont typeface="+mj-lt"/>
              <a:buAutoNum type="arabicPeriod"/>
            </a:pPr>
            <a:r>
              <a:rPr lang="en-US" dirty="0"/>
              <a:t>To build a robust ML model that identifies abnormal electricity consumption patterns.</a:t>
            </a:r>
          </a:p>
          <a:p>
            <a:pPr marL="457200" indent="-457200">
              <a:buFont typeface="+mj-lt"/>
              <a:buAutoNum type="arabicPeriod"/>
            </a:pPr>
            <a:r>
              <a:rPr lang="en-US" dirty="0"/>
              <a:t>To analyze the impact of household characteristics (e.g., area, occupants) on energy usage.</a:t>
            </a:r>
          </a:p>
          <a:p>
            <a:pPr marL="457200" indent="-457200">
              <a:buFont typeface="+mj-lt"/>
              <a:buAutoNum type="arabicPeriod"/>
            </a:pPr>
            <a:r>
              <a:rPr lang="en-US" dirty="0"/>
              <a:t>To provide a scalable solution for real-time anomaly detection in smart grids.</a:t>
            </a:r>
          </a:p>
        </p:txBody>
      </p:sp>
      <p:sp>
        <p:nvSpPr>
          <p:cNvPr id="10" name="TextBox 9">
            <a:extLst>
              <a:ext uri="{FF2B5EF4-FFF2-40B4-BE49-F238E27FC236}">
                <a16:creationId xmlns:a16="http://schemas.microsoft.com/office/drawing/2014/main" id="{5DB1BC4A-9C06-38DD-7C54-031675AB8B42}"/>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Problem Statement</a:t>
            </a:r>
            <a:endParaRPr lang="en-IN" sz="2000" dirty="0">
              <a:solidFill>
                <a:srgbClr val="213163"/>
              </a:solidFill>
            </a:endParaRPr>
          </a:p>
        </p:txBody>
      </p:sp>
    </p:spTree>
    <p:extLst>
      <p:ext uri="{BB962C8B-B14F-4D97-AF65-F5344CB8AC3E}">
        <p14:creationId xmlns:p14="http://schemas.microsoft.com/office/powerpoint/2010/main" val="106628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597745" y="1538333"/>
            <a:ext cx="7860456" cy="4517025"/>
          </a:xfrm>
          <a:prstGeom prst="rect">
            <a:avLst/>
          </a:prstGeom>
        </p:spPr>
        <p:txBody>
          <a:bodyPr>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dirty="0"/>
              <a:t>Approach:</a:t>
            </a:r>
          </a:p>
          <a:p>
            <a:pPr marL="457200" indent="-457200">
              <a:buFont typeface="+mj-lt"/>
              <a:buAutoNum type="arabicPeriod"/>
            </a:pPr>
            <a:r>
              <a:rPr lang="en-US" b="1" dirty="0"/>
              <a:t>Data Collection &amp; Cleaning:</a:t>
            </a:r>
            <a:r>
              <a:rPr lang="en-US" dirty="0"/>
              <a:t> Processed raw CSV data to handle non-numeric characters and missing values.</a:t>
            </a:r>
          </a:p>
          <a:p>
            <a:pPr marL="457200" indent="-457200">
              <a:buFont typeface="+mj-lt"/>
              <a:buAutoNum type="arabicPeriod"/>
            </a:pPr>
            <a:r>
              <a:rPr lang="en-US" b="1" dirty="0"/>
              <a:t>Exploratory Data Analysis (EDA):</a:t>
            </a:r>
            <a:r>
              <a:rPr lang="en-US" dirty="0"/>
              <a:t> Visualized correlations to identify that </a:t>
            </a:r>
            <a:r>
              <a:rPr lang="en-US" dirty="0" err="1"/>
              <a:t>Actual_Energy</a:t>
            </a:r>
            <a:r>
              <a:rPr lang="en-US" dirty="0"/>
              <a:t> and </a:t>
            </a:r>
            <a:r>
              <a:rPr lang="en-US" dirty="0" err="1"/>
              <a:t>Usage_Deviation</a:t>
            </a:r>
            <a:r>
              <a:rPr lang="en-US" dirty="0"/>
              <a:t> are key indicators.</a:t>
            </a:r>
          </a:p>
          <a:p>
            <a:pPr marL="457200" indent="-457200">
              <a:buFont typeface="+mj-lt"/>
              <a:buAutoNum type="arabicPeriod"/>
            </a:pPr>
            <a:r>
              <a:rPr lang="en-US" b="1" dirty="0"/>
              <a:t>Model Selection:</a:t>
            </a:r>
            <a:r>
              <a:rPr lang="en-US" dirty="0"/>
              <a:t> Chose Random Forest Classifier for its ability to handle non-linear relationships and resistance to overfitting.</a:t>
            </a:r>
          </a:p>
          <a:p>
            <a:pPr marL="457200" indent="-457200">
              <a:buFont typeface="+mj-lt"/>
              <a:buAutoNum type="arabicPeriod"/>
            </a:pPr>
            <a:r>
              <a:rPr lang="en-US" b="1" dirty="0"/>
              <a:t>Training:</a:t>
            </a:r>
            <a:r>
              <a:rPr lang="en-US" dirty="0"/>
              <a:t> Split data (80% train, 20% test) and trained the model on 100 decision trees.</a:t>
            </a:r>
          </a:p>
          <a:p>
            <a:endParaRPr lang="en-US" dirty="0"/>
          </a:p>
          <a:p>
            <a:r>
              <a:rPr lang="en-US" dirty="0"/>
              <a:t>Algorithms Used:</a:t>
            </a:r>
          </a:p>
          <a:p>
            <a:pPr marL="342900" indent="-342900">
              <a:buFont typeface="Arial" panose="020B0604020202020204" pitchFamily="34" charset="0"/>
              <a:buChar char="•"/>
            </a:pPr>
            <a:r>
              <a:rPr lang="en-US" b="1" dirty="0"/>
              <a:t>Random Forest Classifier:</a:t>
            </a:r>
            <a:r>
              <a:rPr lang="en-US" dirty="0"/>
              <a:t> Selected for its high accuracy and interpretability (feature importance).</a:t>
            </a:r>
            <a:br>
              <a:rPr lang="en-US" dirty="0"/>
            </a:br>
            <a:br>
              <a:rPr lang="en-US" dirty="0"/>
            </a:br>
            <a:endParaRPr lang="en-US" dirty="0"/>
          </a:p>
          <a:p>
            <a:r>
              <a:rPr lang="en-US" dirty="0"/>
              <a:t>Evaluation Metrics:</a:t>
            </a:r>
          </a:p>
          <a:p>
            <a:pPr marL="342900" indent="-342900">
              <a:buFont typeface="Arial" panose="020B0604020202020204" pitchFamily="34" charset="0"/>
              <a:buChar char="•"/>
            </a:pPr>
            <a:r>
              <a:rPr lang="en-US" b="1" dirty="0"/>
              <a:t>Accuracy:</a:t>
            </a:r>
            <a:r>
              <a:rPr lang="en-US" dirty="0"/>
              <a:t> Overall correctness of the model.</a:t>
            </a:r>
          </a:p>
          <a:p>
            <a:pPr marL="342900" indent="-342900">
              <a:buFont typeface="Arial" panose="020B0604020202020204" pitchFamily="34" charset="0"/>
              <a:buChar char="•"/>
            </a:pPr>
            <a:r>
              <a:rPr lang="en-US" b="1" dirty="0"/>
              <a:t>Precision &amp; Recall:</a:t>
            </a:r>
            <a:r>
              <a:rPr lang="en-US" dirty="0"/>
              <a:t> To ensure we minimize false alarms (flagging honest customers) while catching actual theft.</a:t>
            </a:r>
          </a:p>
        </p:txBody>
      </p:sp>
      <p:sp>
        <p:nvSpPr>
          <p:cNvPr id="5" name="TextBox 4">
            <a:extLst>
              <a:ext uri="{FF2B5EF4-FFF2-40B4-BE49-F238E27FC236}">
                <a16:creationId xmlns:a16="http://schemas.microsoft.com/office/drawing/2014/main" id="{0A86DC2D-04B5-6DF2-25D3-F5C8914AB624}"/>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Methodology</a:t>
            </a:r>
          </a:p>
        </p:txBody>
      </p:sp>
    </p:spTree>
    <p:extLst>
      <p:ext uri="{BB962C8B-B14F-4D97-AF65-F5344CB8AC3E}">
        <p14:creationId xmlns:p14="http://schemas.microsoft.com/office/powerpoint/2010/main"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766EFA-A954-6AF4-DE00-197FE9726512}"/>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B740A9D2-D722-480E-3DD4-6ADE2D9EDEA2}"/>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C9A7047-C50F-05FB-5166-D8A51220A43E}"/>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628650" y="1825625"/>
            <a:ext cx="7886700" cy="4351338"/>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dirty="0"/>
              <a:t>Model Performance:</a:t>
            </a:r>
          </a:p>
          <a:p>
            <a:pPr marL="342900" indent="-342900">
              <a:buFont typeface="Arial" panose="020B0604020202020204" pitchFamily="34" charset="0"/>
              <a:buChar char="•"/>
            </a:pPr>
            <a:r>
              <a:rPr lang="en-CA" b="1" dirty="0"/>
              <a:t>Accuracy:</a:t>
            </a:r>
            <a:r>
              <a:rPr lang="en-CA" dirty="0"/>
              <a:t> 96.3%</a:t>
            </a:r>
          </a:p>
          <a:p>
            <a:pPr marL="342900" indent="-342900">
              <a:buFont typeface="Arial" panose="020B0604020202020204" pitchFamily="34" charset="0"/>
              <a:buChar char="•"/>
            </a:pPr>
            <a:r>
              <a:rPr lang="en-CA" b="1" dirty="0"/>
              <a:t>Precision (Abnormal Class):</a:t>
            </a:r>
            <a:r>
              <a:rPr lang="en-CA" dirty="0"/>
              <a:t> 97%</a:t>
            </a:r>
          </a:p>
          <a:p>
            <a:pPr marL="342900" indent="-342900">
              <a:buFont typeface="Arial" panose="020B0604020202020204" pitchFamily="34" charset="0"/>
              <a:buChar char="•"/>
            </a:pPr>
            <a:r>
              <a:rPr lang="en-CA" b="1" dirty="0"/>
              <a:t>Recall (Abnormal Class):</a:t>
            </a:r>
            <a:r>
              <a:rPr lang="en-CA" dirty="0"/>
              <a:t> 93%</a:t>
            </a:r>
          </a:p>
          <a:p>
            <a:pPr marL="342900" indent="-342900">
              <a:buFont typeface="Arial" panose="020B0604020202020204" pitchFamily="34" charset="0"/>
              <a:buChar char="•"/>
            </a:pPr>
            <a:r>
              <a:rPr lang="en-CA" b="1" dirty="0" err="1"/>
              <a:t>F1</a:t>
            </a:r>
            <a:r>
              <a:rPr lang="en-CA" b="1" dirty="0"/>
              <a:t>-Score:</a:t>
            </a:r>
            <a:r>
              <a:rPr lang="en-CA" dirty="0"/>
              <a:t> 0.95</a:t>
            </a:r>
            <a:endParaRPr lang="en-US" dirty="0"/>
          </a:p>
          <a:p>
            <a:endParaRPr lang="en-US" dirty="0"/>
          </a:p>
          <a:p>
            <a:br>
              <a:rPr lang="en-US" dirty="0"/>
            </a:br>
            <a:endParaRPr lang="en-US" dirty="0"/>
          </a:p>
        </p:txBody>
      </p:sp>
      <p:sp>
        <p:nvSpPr>
          <p:cNvPr id="8" name="TextBox 7">
            <a:extLst>
              <a:ext uri="{FF2B5EF4-FFF2-40B4-BE49-F238E27FC236}">
                <a16:creationId xmlns:a16="http://schemas.microsoft.com/office/drawing/2014/main" id="{53DE1687-7F69-BD4F-0FC1-3AFCEDB18C67}"/>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Result</a:t>
            </a:r>
          </a:p>
        </p:txBody>
      </p:sp>
    </p:spTree>
    <p:extLst>
      <p:ext uri="{BB962C8B-B14F-4D97-AF65-F5344CB8AC3E}">
        <p14:creationId xmlns:p14="http://schemas.microsoft.com/office/powerpoint/2010/main" val="340817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500DBA-CBA7-CDFB-141E-41D83FDD624F}"/>
              </a:ext>
            </a:extLst>
          </p:cNvPr>
          <p:cNvSpPr txBox="1"/>
          <p:nvPr/>
        </p:nvSpPr>
        <p:spPr>
          <a:xfrm>
            <a:off x="424543" y="1052866"/>
            <a:ext cx="8327572" cy="1241622"/>
          </a:xfrm>
          <a:prstGeom prst="rect">
            <a:avLst/>
          </a:prstGeom>
          <a:noFill/>
        </p:spPr>
        <p:txBody>
          <a:bodyPr wrap="square">
            <a:spAutoFit/>
          </a:bodyPr>
          <a:lstStyle/>
          <a:p>
            <a:r>
              <a:rPr lang="en-US" dirty="0"/>
              <a:t>Graphs/Visualizations:</a:t>
            </a:r>
          </a:p>
          <a:p>
            <a:pPr marL="342900" indent="-342900">
              <a:buFont typeface="Arial" panose="020B0604020202020204" pitchFamily="34" charset="0"/>
              <a:buChar char="•"/>
            </a:pPr>
            <a:r>
              <a:rPr lang="en-US" dirty="0"/>
              <a:t>Shows 710 correct Abnormal detections vs. only 19 false </a:t>
            </a:r>
            <a:r>
              <a:rPr lang="en-US"/>
              <a:t>alarms.</a:t>
            </a:r>
          </a:p>
          <a:p>
            <a:pPr marL="342900" indent="-342900">
              <a:buFont typeface="Arial" panose="020B0604020202020204" pitchFamily="34" charset="0"/>
              <a:buChar char="•"/>
            </a:pPr>
            <a:r>
              <a:rPr lang="en-US" dirty="0" err="1"/>
              <a:t>Actual_Energy</a:t>
            </a:r>
            <a:r>
              <a:rPr lang="en-US" dirty="0"/>
              <a:t>(kwh) was the #1 predictor, followed by </a:t>
            </a:r>
            <a:r>
              <a:rPr lang="en-US" dirty="0" err="1"/>
              <a:t>Connected_Load</a:t>
            </a:r>
            <a:r>
              <a:rPr lang="en-US" dirty="0"/>
              <a:t> and </a:t>
            </a:r>
            <a:r>
              <a:rPr lang="en-US" dirty="0" err="1"/>
              <a:t>Appliance_Score</a:t>
            </a:r>
            <a:r>
              <a:rPr lang="en-US" dirty="0"/>
              <a:t>.</a:t>
            </a:r>
          </a:p>
        </p:txBody>
      </p:sp>
      <p:pic>
        <p:nvPicPr>
          <p:cNvPr id="4098" name="Picture 2">
            <a:extLst>
              <a:ext uri="{FF2B5EF4-FFF2-40B4-BE49-F238E27FC236}">
                <a16:creationId xmlns:a16="http://schemas.microsoft.com/office/drawing/2014/main" id="{EE1A73E1-8919-D9E7-FA74-A83AC04418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542" y="2294488"/>
            <a:ext cx="4718957" cy="421940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8B6153C-8979-D35A-7AF1-8F50F0E9E9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7606" y="2502512"/>
            <a:ext cx="6695726" cy="3302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3324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0F5C63-CA57-4198-DE09-06B11F8C8AB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0962F5BB-40DE-28E5-9387-A9BF86D34D29}"/>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597744" y="1744007"/>
            <a:ext cx="7886700"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dirty="0"/>
              <a:t>Insights:</a:t>
            </a:r>
          </a:p>
          <a:p>
            <a:pPr marL="342900" indent="-342900">
              <a:buFont typeface="Arial" panose="020B0604020202020204" pitchFamily="34" charset="0"/>
              <a:buChar char="•"/>
            </a:pPr>
            <a:r>
              <a:rPr lang="en-US" dirty="0"/>
              <a:t>Abnormal usage is not just "high usage"; it is high usage </a:t>
            </a:r>
            <a:r>
              <a:rPr lang="en-US" i="1" dirty="0"/>
              <a:t>relative</a:t>
            </a:r>
            <a:r>
              <a:rPr lang="en-US" dirty="0"/>
              <a:t> to the house size and appliance score.</a:t>
            </a:r>
          </a:p>
          <a:p>
            <a:pPr marL="342900" indent="-342900">
              <a:buFont typeface="Arial" panose="020B0604020202020204" pitchFamily="34" charset="0"/>
              <a:buChar char="•"/>
            </a:pPr>
            <a:r>
              <a:rPr lang="en-US" dirty="0"/>
              <a:t>The model successfully learned that a small house with few appliances consuming massive energy is a strong signal for anomaly (likely theft or leakage).</a:t>
            </a:r>
          </a:p>
          <a:p>
            <a:endParaRPr lang="en-US" dirty="0"/>
          </a:p>
          <a:p>
            <a:r>
              <a:rPr lang="en-US" dirty="0"/>
              <a:t>Challenges Faced:</a:t>
            </a:r>
          </a:p>
          <a:p>
            <a:pPr marL="342900" indent="-342900">
              <a:buFont typeface="Arial" panose="020B0604020202020204" pitchFamily="34" charset="0"/>
              <a:buChar char="•"/>
            </a:pPr>
            <a:r>
              <a:rPr lang="en-US" b="1" dirty="0"/>
              <a:t>Data Quality:</a:t>
            </a:r>
            <a:r>
              <a:rPr lang="en-US" dirty="0"/>
              <a:t> Initial columns contained mixed text/numbers ("12.82 kWh") requiring custom cleaning functions.</a:t>
            </a:r>
          </a:p>
          <a:p>
            <a:pPr marL="342900" indent="-342900">
              <a:buFont typeface="Arial" panose="020B0604020202020204" pitchFamily="34" charset="0"/>
              <a:buChar char="•"/>
            </a:pPr>
            <a:r>
              <a:rPr lang="en-US" b="1" dirty="0"/>
              <a:t>Feature Leakage Risk:</a:t>
            </a:r>
            <a:r>
              <a:rPr lang="en-US" dirty="0"/>
              <a:t> We had to carefully exclude </a:t>
            </a:r>
            <a:r>
              <a:rPr lang="en-US" dirty="0" err="1"/>
              <a:t>Usage_Deviation</a:t>
            </a:r>
            <a:r>
              <a:rPr lang="en-US" dirty="0"/>
              <a:t> and </a:t>
            </a:r>
            <a:r>
              <a:rPr lang="en-US" dirty="0" err="1"/>
              <a:t>Expected_Energy</a:t>
            </a:r>
            <a:r>
              <a:rPr lang="en-US" dirty="0"/>
              <a:t> during training to ensure the model learned independently rather than just "reading the answer."</a:t>
            </a:r>
          </a:p>
        </p:txBody>
      </p:sp>
      <p:sp>
        <p:nvSpPr>
          <p:cNvPr id="8" name="TextBox 7">
            <a:extLst>
              <a:ext uri="{FF2B5EF4-FFF2-40B4-BE49-F238E27FC236}">
                <a16:creationId xmlns:a16="http://schemas.microsoft.com/office/drawing/2014/main" id="{C2132A3D-F4D5-4E25-BE28-B9E521F37201}"/>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Discussion</a:t>
            </a:r>
            <a:endParaRPr lang="en-IN" sz="2000" dirty="0">
              <a:solidFill>
                <a:srgbClr val="213163"/>
              </a:solidFill>
            </a:endParaRPr>
          </a:p>
        </p:txBody>
      </p:sp>
    </p:spTree>
    <p:extLst>
      <p:ext uri="{BB962C8B-B14F-4D97-AF65-F5344CB8AC3E}">
        <p14:creationId xmlns:p14="http://schemas.microsoft.com/office/powerpoint/2010/main" val="3588832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5DD3A5A0-5DE1-57D5-1967-A49F57C9AB4B}"/>
              </a:ext>
            </a:extLst>
          </p:cNvPr>
          <p:cNvSpPr txBox="1">
            <a:spLocks/>
          </p:cNvSpPr>
          <p:nvPr/>
        </p:nvSpPr>
        <p:spPr>
          <a:xfrm>
            <a:off x="597744" y="1704022"/>
            <a:ext cx="7886700" cy="4351338"/>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dirty="0"/>
              <a:t>Sustainability Impact:</a:t>
            </a:r>
          </a:p>
          <a:p>
            <a:pPr marL="342900" indent="-342900">
              <a:buFont typeface="Arial" panose="020B0604020202020204" pitchFamily="34" charset="0"/>
              <a:buChar char="•"/>
            </a:pPr>
            <a:r>
              <a:rPr lang="en-US" dirty="0"/>
              <a:t>Reduces energy wastage by identifying faults or leakages early.</a:t>
            </a:r>
          </a:p>
          <a:p>
            <a:pPr marL="342900" indent="-342900">
              <a:buFont typeface="Arial" panose="020B0604020202020204" pitchFamily="34" charset="0"/>
              <a:buChar char="•"/>
            </a:pPr>
            <a:r>
              <a:rPr lang="en-US" dirty="0"/>
              <a:t>Promotes fair usage, ensuring that energy resources are distributed efficiently across the grid.</a:t>
            </a:r>
          </a:p>
          <a:p>
            <a:endParaRPr lang="en-US" dirty="0"/>
          </a:p>
          <a:p>
            <a:r>
              <a:rPr lang="en-US" dirty="0"/>
              <a:t>Practical Implementation:</a:t>
            </a:r>
          </a:p>
          <a:p>
            <a:pPr marL="342900" indent="-342900">
              <a:buFont typeface="Arial" panose="020B0604020202020204" pitchFamily="34" charset="0"/>
              <a:buChar char="•"/>
            </a:pPr>
            <a:r>
              <a:rPr lang="en-US" b="1" dirty="0"/>
              <a:t>Utility Dashboard:</a:t>
            </a:r>
            <a:r>
              <a:rPr lang="en-US" dirty="0"/>
              <a:t> This model can be deployed on utility company servers to scan daily smart meter readings.</a:t>
            </a:r>
          </a:p>
          <a:p>
            <a:pPr marL="342900" indent="-342900">
              <a:buFont typeface="Arial" panose="020B0604020202020204" pitchFamily="34" charset="0"/>
              <a:buChar char="•"/>
            </a:pPr>
            <a:r>
              <a:rPr lang="en-US" b="1" dirty="0"/>
              <a:t>Alert System:</a:t>
            </a:r>
            <a:r>
              <a:rPr lang="en-US" dirty="0"/>
              <a:t> Automatically flag accounts with &gt;90% probability of abnormality for physical inspection, saving </a:t>
            </a:r>
            <a:r>
              <a:rPr lang="en-US" dirty="0" err="1"/>
              <a:t>1000s</a:t>
            </a:r>
            <a:r>
              <a:rPr lang="en-US" dirty="0"/>
              <a:t> of man-hours.</a:t>
            </a:r>
          </a:p>
        </p:txBody>
      </p:sp>
      <p:sp>
        <p:nvSpPr>
          <p:cNvPr id="8" name="TextBox 7">
            <a:extLst>
              <a:ext uri="{FF2B5EF4-FFF2-40B4-BE49-F238E27FC236}">
                <a16:creationId xmlns:a16="http://schemas.microsoft.com/office/drawing/2014/main" id="{03015779-0D87-0B8F-666B-1C962E184FD1}"/>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Solution Impact</a:t>
            </a:r>
            <a:endParaRPr lang="en-IN" sz="2000" dirty="0">
              <a:solidFill>
                <a:srgbClr val="213163"/>
              </a:solidFill>
            </a:endParaRPr>
          </a:p>
        </p:txBody>
      </p:sp>
    </p:spTree>
    <p:extLst>
      <p:ext uri="{BB962C8B-B14F-4D97-AF65-F5344CB8AC3E}">
        <p14:creationId xmlns:p14="http://schemas.microsoft.com/office/powerpoint/2010/main" val="2848511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Conclusion</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461898"/>
            <a:ext cx="6901686" cy="3949927"/>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a:latin typeface="+mn-lt"/>
              </a:rPr>
              <a:t>Summary:</a:t>
            </a:r>
          </a:p>
          <a:p>
            <a:pPr marL="285750" lvl="1" indent="-285750">
              <a:spcAft>
                <a:spcPts val="800"/>
              </a:spcAft>
              <a:buFont typeface="Wingdings" panose="05000000000000000000" pitchFamily="2" charset="2"/>
              <a:buChar char="Ø"/>
            </a:pPr>
            <a:r>
              <a:rPr lang="en-US" sz="1800" dirty="0"/>
              <a:t>We successfully developed an Intelligent Abnormal Electricity Usage Detection system using a Random Forest Classifier. The model achieved 96% accuracy, proving that machine learning can effectively automate the detection of energy theft and meter anomalies.</a:t>
            </a:r>
            <a:endParaRPr lang="en-US" sz="1800" dirty="0">
              <a:latin typeface="+mn-lt"/>
            </a:endParaRPr>
          </a:p>
          <a:p>
            <a:pPr marL="228600" indent="-228600">
              <a:spcAft>
                <a:spcPts val="800"/>
              </a:spcAft>
              <a:buFont typeface="Arial" panose="020B0604020202020204" pitchFamily="34" charset="0"/>
              <a:buChar char="•"/>
            </a:pPr>
            <a:endParaRPr lang="en-US" sz="1800" dirty="0">
              <a:latin typeface="+mn-lt"/>
            </a:endParaRPr>
          </a:p>
          <a:p>
            <a:pPr marL="228600" indent="-228600">
              <a:spcAft>
                <a:spcPts val="800"/>
              </a:spcAft>
              <a:buFont typeface="Arial" panose="020B0604020202020204" pitchFamily="34" charset="0"/>
              <a:buChar char="•"/>
            </a:pPr>
            <a:r>
              <a:rPr lang="en-US" sz="1800" dirty="0">
                <a:latin typeface="+mn-lt"/>
              </a:rPr>
              <a:t>Future Work:</a:t>
            </a:r>
          </a:p>
          <a:p>
            <a:pPr marL="285750" lvl="1" indent="-285750">
              <a:spcAft>
                <a:spcPts val="800"/>
              </a:spcAft>
              <a:buFont typeface="Wingdings" panose="05000000000000000000" pitchFamily="2" charset="2"/>
              <a:buChar char="Ø"/>
            </a:pPr>
            <a:r>
              <a:rPr lang="en-US" sz="1800" dirty="0"/>
              <a:t>Integrate deep learning (LSTMs) to analyze time-series patterns (e.g., sudden spikes at specific times of day).</a:t>
            </a:r>
          </a:p>
          <a:p>
            <a:pPr marL="285750" lvl="1" indent="-285750">
              <a:spcAft>
                <a:spcPts val="800"/>
              </a:spcAft>
              <a:buFont typeface="Wingdings" panose="05000000000000000000" pitchFamily="2" charset="2"/>
              <a:buChar char="Ø"/>
            </a:pPr>
            <a:r>
              <a:rPr lang="en-US" sz="1800" dirty="0"/>
              <a:t>Develop a mobile app interface for consumers to view their own usage health.</a:t>
            </a:r>
            <a:endParaRPr lang="en-US" sz="1800" dirty="0">
              <a:latin typeface="+mn-lt"/>
            </a:endParaRPr>
          </a:p>
        </p:txBody>
      </p:sp>
      <p:sp>
        <p:nvSpPr>
          <p:cNvPr id="8" name="TextBox 7">
            <a:extLst>
              <a:ext uri="{FF2B5EF4-FFF2-40B4-BE49-F238E27FC236}">
                <a16:creationId xmlns:a16="http://schemas.microsoft.com/office/drawing/2014/main" id="{FF6EE1DD-6A31-2A28-F8BE-6E59037422CF}"/>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light bulb with a black background&#10;&#10;Description automatically generated">
            <a:extLst>
              <a:ext uri="{FF2B5EF4-FFF2-40B4-BE49-F238E27FC236}">
                <a16:creationId xmlns:a16="http://schemas.microsoft.com/office/drawing/2014/main" id="{75F7452F-58BC-17CE-3016-C04F4A0BB586}"/>
              </a:ext>
            </a:extLst>
          </p:cNvPr>
          <p:cNvPicPr>
            <a:picLocks noChangeAspect="1"/>
          </p:cNvPicPr>
          <p:nvPr/>
        </p:nvPicPr>
        <p:blipFill rotWithShape="1">
          <a:blip r:embed="rId4"/>
          <a:srcRect l="7117" t="5427" r="7295" b="7474"/>
          <a:stretch/>
        </p:blipFill>
        <p:spPr>
          <a:xfrm>
            <a:off x="7112000" y="1092200"/>
            <a:ext cx="4551680" cy="4632115"/>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References</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461898"/>
            <a:ext cx="7382472" cy="3754874"/>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a:t>Kaggle Dataset: Intelligent Abnormal Electricity Usage Dataset (Real-World).</a:t>
            </a:r>
            <a:endParaRPr lang="en-US" sz="1800" dirty="0">
              <a:latin typeface="+mn-lt"/>
            </a:endParaRPr>
          </a:p>
          <a:p>
            <a:pPr marL="228600" indent="-228600">
              <a:spcAft>
                <a:spcPts val="800"/>
              </a:spcAft>
              <a:buFont typeface="Arial" panose="020B0604020202020204" pitchFamily="34" charset="0"/>
              <a:buChar char="•"/>
            </a:pPr>
            <a:r>
              <a:rPr lang="en-US" sz="1800" dirty="0">
                <a:latin typeface="+mn-lt"/>
              </a:rPr>
              <a:t>Link: </a:t>
            </a:r>
            <a:r>
              <a:rPr lang="en-US" sz="1800" dirty="0">
                <a:latin typeface="+mn-lt"/>
                <a:hlinkClick r:id="rId3"/>
              </a:rPr>
              <a:t>https://www.kaggle.com/code/sonalshinde123/abnormal-electricity-usage-detection/input</a:t>
            </a:r>
            <a:endParaRPr lang="en-US" sz="1800" dirty="0">
              <a:latin typeface="+mn-lt"/>
            </a:endParaRPr>
          </a:p>
          <a:p>
            <a:pPr marL="228600" indent="-228600">
              <a:spcAft>
                <a:spcPts val="800"/>
              </a:spcAft>
              <a:buFont typeface="Arial" panose="020B0604020202020204" pitchFamily="34" charset="0"/>
              <a:buChar char="•"/>
            </a:pPr>
            <a:r>
              <a:rPr lang="fr-FR" sz="1800" dirty="0" err="1"/>
              <a:t>Scikit-Learn</a:t>
            </a:r>
            <a:r>
              <a:rPr lang="fr-FR" sz="1800" dirty="0"/>
              <a:t> Documentation (</a:t>
            </a:r>
            <a:r>
              <a:rPr lang="fr-FR" sz="1800" dirty="0" err="1"/>
              <a:t>Random</a:t>
            </a:r>
            <a:r>
              <a:rPr lang="fr-FR" sz="1800" dirty="0"/>
              <a:t> Forest Classifier).</a:t>
            </a:r>
          </a:p>
          <a:p>
            <a:pPr marL="228600" indent="-228600">
              <a:spcAft>
                <a:spcPts val="800"/>
              </a:spcAft>
              <a:buFont typeface="Arial" panose="020B0604020202020204" pitchFamily="34" charset="0"/>
              <a:buChar char="•"/>
            </a:pPr>
            <a:r>
              <a:rPr lang="pt-BR" sz="1800" dirty="0"/>
              <a:t>Pandas &amp; NumPy Documentation for Data Preprocessing.</a:t>
            </a:r>
          </a:p>
          <a:p>
            <a:pPr marL="228600" indent="-228600">
              <a:spcAft>
                <a:spcPts val="800"/>
              </a:spcAft>
              <a:buFont typeface="Arial" panose="020B0604020202020204" pitchFamily="34" charset="0"/>
              <a:buChar char="•"/>
            </a:pPr>
            <a:endParaRPr lang="pt-BR" sz="1800" dirty="0"/>
          </a:p>
          <a:p>
            <a:pPr marL="228600" indent="-228600">
              <a:spcAft>
                <a:spcPts val="800"/>
              </a:spcAft>
              <a:buFont typeface="Arial" panose="020B0604020202020204" pitchFamily="34" charset="0"/>
              <a:buChar char="•"/>
            </a:pPr>
            <a:r>
              <a:rPr lang="en-US" sz="1800" b="1" dirty="0"/>
              <a:t>Project Code Repository:</a:t>
            </a:r>
            <a:r>
              <a:rPr lang="en-US" sz="1800" dirty="0"/>
              <a:t> </a:t>
            </a:r>
            <a:r>
              <a:rPr lang="en-US" sz="1800" dirty="0">
                <a:hlinkClick r:id="rId4"/>
              </a:rPr>
              <a:t>https://github.com/aryanbhogayata/Abnormal-Electricity-Usage-Detection</a:t>
            </a:r>
            <a:endParaRPr lang="en-US" sz="1800" dirty="0"/>
          </a:p>
          <a:p>
            <a:pPr marL="228600" indent="-228600">
              <a:spcAft>
                <a:spcPts val="800"/>
              </a:spcAft>
              <a:buFont typeface="Arial" panose="020B0604020202020204" pitchFamily="34" charset="0"/>
              <a:buChar char="•"/>
            </a:pPr>
            <a:r>
              <a:rPr lang="en-CA" sz="1800" b="1" dirty="0"/>
              <a:t>Dataset:</a:t>
            </a:r>
            <a:r>
              <a:rPr lang="en-CA" sz="1800" dirty="0"/>
              <a:t> Kaggle - Intelligent Abnormal Electricity Usage Dataset.</a:t>
            </a:r>
            <a:endParaRPr lang="en-US" sz="1800" dirty="0"/>
          </a:p>
        </p:txBody>
      </p:sp>
    </p:spTree>
    <p:extLst>
      <p:ext uri="{BB962C8B-B14F-4D97-AF65-F5344CB8AC3E}">
        <p14:creationId xmlns:p14="http://schemas.microsoft.com/office/powerpoint/2010/main" val="1307925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3837</TotalTime>
  <Words>857</Words>
  <Application>Microsoft Office PowerPoint</Application>
  <PresentationFormat>Widescreen</PresentationFormat>
  <Paragraphs>101</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ARYAN BHOGAYATA</cp:lastModifiedBy>
  <cp:revision>94</cp:revision>
  <dcterms:modified xsi:type="dcterms:W3CDTF">2026-02-13T05:02:12Z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